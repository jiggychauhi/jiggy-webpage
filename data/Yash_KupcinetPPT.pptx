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Hello everybody, today I’ll be talking about playing ping-pong..only this time with anyons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f6aebb6421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f6aebb6421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Imagine two strings encircling each other in 3D. Now you want to shrink the outer string to the origin without touching the inner string. In 3D that’s easy since we have an extra dimension, just go down and then squeeze up. But in 2D, we cannot do this without making the strings touch each other.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Turns out this has some beautiful consequences. It gives rise to the symmetric and </a:t>
            </a:r>
            <a:r>
              <a:rPr lang="en"/>
              <a:t>anti-symmetric</a:t>
            </a:r>
            <a:r>
              <a:rPr lang="en"/>
              <a:t> exchangeof bosons and fermions in 3D and for a wider rich class of exchange statistics in 2D with the particles called ANYONS.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f3dbccf159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f3dbccf159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should care about anyons because </a:t>
            </a:r>
            <a:r>
              <a:rPr lang="en"/>
              <a:t>their</a:t>
            </a:r>
            <a:r>
              <a:rPr lang="en"/>
              <a:t> manipulation like braiding and fusion gives rise to logical operations which can be used to perform </a:t>
            </a:r>
            <a:r>
              <a:rPr lang="en"/>
              <a:t>quantum</a:t>
            </a:r>
            <a:r>
              <a:rPr lang="en"/>
              <a:t> computation.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theory this is the best platform to implement quantum computation…</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f3dbccf159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f3dbccf159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Take a 2D Electron Gas and apply a perpendicular magnetic field. We see that the electrons in the bulk form closed orbits performing </a:t>
            </a:r>
            <a:r>
              <a:rPr lang="en"/>
              <a:t>cyclotron motion.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Quantum mechanically, this motion becomes quantized into discrete energy levels called </a:t>
            </a:r>
            <a:r>
              <a:rPr b="1" lang="en">
                <a:solidFill>
                  <a:schemeClr val="dk1"/>
                </a:solidFill>
              </a:rPr>
              <a:t>Landau levels</a:t>
            </a: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In a real sample, disorder broadens these Landau levels. Many of the bulk states become localized </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But at the edges the electrons move in a chiral fashion forming a conducting edge channel.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f3dbccf159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f3dbccf159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basically one of the </a:t>
            </a:r>
            <a:r>
              <a:rPr lang="en">
                <a:solidFill>
                  <a:schemeClr val="dk1"/>
                </a:solidFill>
              </a:rPr>
              <a:t>most important platforms is the </a:t>
            </a:r>
            <a:r>
              <a:rPr b="1" lang="en">
                <a:solidFill>
                  <a:schemeClr val="dk1"/>
                </a:solidFill>
              </a:rPr>
              <a:t>fractional quantum Hall regime</a:t>
            </a:r>
            <a:r>
              <a:rPr lang="en">
                <a:solidFill>
                  <a:schemeClr val="dk1"/>
                </a:solidFill>
              </a:rPr>
              <a:t>.</a:t>
            </a:r>
            <a:endParaRPr>
              <a:solidFill>
                <a:schemeClr val="dk1"/>
              </a:solidFill>
            </a:endParaRPr>
          </a:p>
          <a:p>
            <a:pPr indent="0" lvl="0" marL="0" rtl="0" algn="l">
              <a:spcBef>
                <a:spcPts val="0"/>
              </a:spcBef>
              <a:spcAft>
                <a:spcPts val="0"/>
              </a:spcAft>
              <a:buNone/>
            </a:pPr>
            <a:r>
              <a:rPr lang="en">
                <a:solidFill>
                  <a:schemeClr val="dk1"/>
                </a:solidFill>
              </a:rPr>
              <a:t>near the boundary of the sample the confining potential bends the Landau levels upward, and where they cross the Fermi energy, we obtain </a:t>
            </a:r>
            <a:r>
              <a:rPr b="1" lang="en">
                <a:solidFill>
                  <a:schemeClr val="dk1"/>
                </a:solidFill>
              </a:rPr>
              <a:t>conducting edge channels</a:t>
            </a:r>
            <a:r>
              <a:rPr lang="en">
                <a:solidFill>
                  <a:schemeClr val="dk1"/>
                </a:solidFill>
              </a:rPr>
              <a:t>.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rPr lang="en">
                <a:solidFill>
                  <a:schemeClr val="dk1"/>
                </a:solidFill>
              </a:rPr>
              <a:t>For the </a:t>
            </a:r>
            <a:r>
              <a:rPr b="1" lang="en">
                <a:solidFill>
                  <a:schemeClr val="dk1"/>
                </a:solidFill>
              </a:rPr>
              <a:t>integer</a:t>
            </a:r>
            <a:r>
              <a:rPr lang="en">
                <a:solidFill>
                  <a:schemeClr val="dk1"/>
                </a:solidFill>
              </a:rPr>
              <a:t> quantum Hall effect, these edge excitations are essentially electronic. But when we enter the </a:t>
            </a:r>
            <a:r>
              <a:rPr b="1" lang="en">
                <a:solidFill>
                  <a:schemeClr val="dk1"/>
                </a:solidFill>
              </a:rPr>
              <a:t>fractional quantum Hall regime</a:t>
            </a:r>
            <a:r>
              <a:rPr lang="en">
                <a:solidFill>
                  <a:schemeClr val="dk1"/>
                </a:solidFill>
              </a:rPr>
              <a:t>, electron-electron interactions become crucial, and the elementary excitations are no longer simply electrons.”</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rPr lang="en">
                <a:solidFill>
                  <a:schemeClr val="dk1"/>
                </a:solidFill>
              </a:rPr>
              <a:t>Instead, we obtain quasiparticles that can carry a </a:t>
            </a:r>
            <a:r>
              <a:rPr b="1" lang="en">
                <a:solidFill>
                  <a:schemeClr val="dk1"/>
                </a:solidFill>
              </a:rPr>
              <a:t>fraction of the electron charge</a:t>
            </a:r>
            <a:r>
              <a:rPr lang="en">
                <a:solidFill>
                  <a:schemeClr val="dk1"/>
                </a:solidFill>
              </a:rPr>
              <a:t>, which I denote here as q∗=e/m for the simple Laughlin picture.</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We can think of this edge as providing a beam of particles that we can later manipulate and interfere made of fractional quasiparticles which can obery </a:t>
            </a:r>
            <a:r>
              <a:rPr b="1" lang="en">
                <a:solidFill>
                  <a:schemeClr val="dk1"/>
                </a:solidFill>
              </a:rPr>
              <a:t>anyonic statistics</a:t>
            </a:r>
            <a:r>
              <a:rPr lang="en">
                <a:solidFill>
                  <a:schemeClr val="dk1"/>
                </a:solidFill>
              </a:rPr>
              <a:t> </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3dbccf159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3dbccf159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f3dbccf15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f3dbccf15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have a beam of light and some mirrors and beam splitters…this is a multipath interferometer and the interference between the paths taken gives rise to the Intensity plot which you can see the intensity peaks at even multiples of pi.</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f3dbccf159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f3dbccf159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imagine a bosonic beam which is basically light and a boson which is placed inside the Fabry Perot cavity. We see that the intensity profile remains the same. That’s </a:t>
            </a:r>
            <a:r>
              <a:rPr lang="en"/>
              <a:t>because bosons don’t introduce any additional statistical phase.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f3dbccf159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f3dbccf159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let’s do the same with </a:t>
            </a:r>
            <a:r>
              <a:rPr lang="en"/>
              <a:t>electrons. Here too, we see no change in the profile thats because the full encircle is pi + pi = 2pi which is basically a 0 phase shift modulus 2pi.</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f3dbccf159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f3dbccf159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let’s look at the same setups but with anyons. In this case, we do see that we have a non zero statistical phase which results in a shift in the </a:t>
            </a:r>
            <a:r>
              <a:rPr lang="en"/>
              <a:t>intensity profile by that statistical phase. This is the idea behind how we can measure the braiding phase between two anyons which is just twice the exchange phase.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f3dbccf159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f3dbccf159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3dbccf159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3dbccf159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Let’s take a look at this beautiful SEM image of the quantum fabry perot interferometer made in a single layer graphene. Keep the image of the fabry perot interferometer in mind. It’s basically the same think. We measure the signal difference between the particles (show loop). The Quantum Point Contatcs (QPCs) are constrictions which make it possible for the particles to tunnel between them.</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f3dbccf159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f3dbccf159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Let’s extend this same notion to the fractional regime. Here is some data from a device made using bilayer graphene.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f3dbccf159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f3dbccf159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see that is the same exact case as seen before. In the previous case, the statistical case gave rise to a shift in the intensity pattern. Here too if we look at the pajama plots, we see there are some phase jumps due to this statistical phase. So we see that is it possible to perform </a:t>
            </a:r>
            <a:r>
              <a:rPr lang="en"/>
              <a:t>interferometry</a:t>
            </a:r>
            <a:r>
              <a:rPr lang="en"/>
              <a:t> with these quasiparticles!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f6aebb6421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f6aebb6421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f3dbccf159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f3dbccf159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f3dbccf159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f3dbccf159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f3dbccf159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f3dbccf159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if we want to measure </a:t>
            </a:r>
            <a:r>
              <a:rPr lang="en"/>
              <a:t>properties</a:t>
            </a:r>
            <a:r>
              <a:rPr lang="en"/>
              <a:t> or statistics of particles which do not carry a charge? There are a class of anyons which are neutral called neutral anyons and we would like to understand them better…for that case we perform thermal conductance measurements because even though they dont carry any charge they do carry energy.</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f6da1b6bbb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f6da1b6bbb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f3dbccf159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f3dbccf159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png"/><Relationship Id="rId4" Type="http://schemas.openxmlformats.org/officeDocument/2006/relationships/image" Target="../media/image2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20.gif"/><Relationship Id="rId9" Type="http://schemas.openxmlformats.org/officeDocument/2006/relationships/image" Target="../media/image28.png"/><Relationship Id="rId5" Type="http://schemas.openxmlformats.org/officeDocument/2006/relationships/image" Target="../media/image7.png"/><Relationship Id="rId6" Type="http://schemas.openxmlformats.org/officeDocument/2006/relationships/image" Target="../media/image1.png"/><Relationship Id="rId7" Type="http://schemas.openxmlformats.org/officeDocument/2006/relationships/image" Target="../media/image3.png"/><Relationship Id="rId8"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2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5.gif"/><Relationship Id="rId5" Type="http://schemas.openxmlformats.org/officeDocument/2006/relationships/image" Target="../media/image36.png"/><Relationship Id="rId6" Type="http://schemas.openxmlformats.org/officeDocument/2006/relationships/image" Target="../media/image4.png"/><Relationship Id="rId7"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0.gif"/><Relationship Id="rId4" Type="http://schemas.openxmlformats.org/officeDocument/2006/relationships/image" Target="../media/image15.png"/><Relationship Id="rId5"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6.gif"/><Relationship Id="rId4" Type="http://schemas.openxmlformats.org/officeDocument/2006/relationships/image" Target="../media/image32.png"/><Relationship Id="rId5" Type="http://schemas.openxmlformats.org/officeDocument/2006/relationships/image" Target="../media/image13.png"/><Relationship Id="rId6"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4.gif"/><Relationship Id="rId4" Type="http://schemas.openxmlformats.org/officeDocument/2006/relationships/image" Target="../media/image19.png"/><Relationship Id="rId5" Type="http://schemas.openxmlformats.org/officeDocument/2006/relationships/image" Target="../media/image34.png"/><Relationship Id="rId6" Type="http://schemas.openxmlformats.org/officeDocument/2006/relationships/image" Target="../media/image3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8.gif"/><Relationship Id="rId4" Type="http://schemas.openxmlformats.org/officeDocument/2006/relationships/image" Target="../media/image41.png"/><Relationship Id="rId5" Type="http://schemas.openxmlformats.org/officeDocument/2006/relationships/image" Target="../media/image21.png"/><Relationship Id="rId6" Type="http://schemas.openxmlformats.org/officeDocument/2006/relationships/image" Target="../media/image3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5.png"/><Relationship Id="rId4" Type="http://schemas.openxmlformats.org/officeDocument/2006/relationships/image" Target="../media/image4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3.png"/><Relationship Id="rId4" Type="http://schemas.openxmlformats.org/officeDocument/2006/relationships/image" Target="../media/image3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4.png"/><Relationship Id="rId4" Type="http://schemas.openxmlformats.org/officeDocument/2006/relationships/image" Target="../media/image26.png"/><Relationship Id="rId5" Type="http://schemas.openxmlformats.org/officeDocument/2006/relationships/image" Target="../media/image18.gif"/><Relationship Id="rId6" Type="http://schemas.openxmlformats.org/officeDocument/2006/relationships/image" Target="../media/image4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4.jpg"/><Relationship Id="rId4" Type="http://schemas.openxmlformats.org/officeDocument/2006/relationships/image" Target="../media/image27.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9.png"/><Relationship Id="rId4" Type="http://schemas.openxmlformats.org/officeDocument/2006/relationships/image" Target="../media/image42.png"/><Relationship Id="rId5" Type="http://schemas.openxmlformats.org/officeDocument/2006/relationships/image" Target="../media/image3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46.png"/><Relationship Id="rId4" Type="http://schemas.openxmlformats.org/officeDocument/2006/relationships/image" Target="../media/image39.jpg"/><Relationship Id="rId5" Type="http://schemas.openxmlformats.org/officeDocument/2006/relationships/image" Target="../media/image3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4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pic>
        <p:nvPicPr>
          <p:cNvPr id="54" name="Google Shape;54;p13" title="weizmann.png"/>
          <p:cNvPicPr preferRelativeResize="0"/>
          <p:nvPr/>
        </p:nvPicPr>
        <p:blipFill>
          <a:blip r:embed="rId4">
            <a:alphaModFix/>
          </a:blip>
          <a:stretch>
            <a:fillRect/>
          </a:stretch>
        </p:blipFill>
        <p:spPr>
          <a:xfrm>
            <a:off x="6072175" y="0"/>
            <a:ext cx="3071827" cy="694450"/>
          </a:xfrm>
          <a:prstGeom prst="rect">
            <a:avLst/>
          </a:prstGeom>
          <a:noFill/>
          <a:ln>
            <a:noFill/>
          </a:ln>
        </p:spPr>
      </p:pic>
      <p:sp>
        <p:nvSpPr>
          <p:cNvPr id="55" name="Google Shape;55;p13"/>
          <p:cNvSpPr txBox="1"/>
          <p:nvPr/>
        </p:nvSpPr>
        <p:spPr>
          <a:xfrm>
            <a:off x="126875" y="3157575"/>
            <a:ext cx="2595000" cy="80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200">
                <a:solidFill>
                  <a:schemeClr val="dk2"/>
                </a:solidFill>
              </a:rPr>
              <a:t>Playing Ping-Pong with Anyons </a:t>
            </a:r>
            <a:endParaRPr sz="2200">
              <a:solidFill>
                <a:schemeClr val="dk2"/>
              </a:solidFill>
            </a:endParaRPr>
          </a:p>
        </p:txBody>
      </p:sp>
      <p:sp>
        <p:nvSpPr>
          <p:cNvPr id="56" name="Google Shape;56;p13"/>
          <p:cNvSpPr txBox="1"/>
          <p:nvPr/>
        </p:nvSpPr>
        <p:spPr>
          <a:xfrm>
            <a:off x="126875" y="3960675"/>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Basics of </a:t>
            </a:r>
            <a:r>
              <a:rPr lang="en" sz="1200"/>
              <a:t>Quantum Hall Interferometry</a:t>
            </a:r>
            <a:endParaRPr sz="1700"/>
          </a:p>
        </p:txBody>
      </p:sp>
      <p:sp>
        <p:nvSpPr>
          <p:cNvPr id="57" name="Google Shape;57;p13"/>
          <p:cNvSpPr txBox="1"/>
          <p:nvPr/>
        </p:nvSpPr>
        <p:spPr>
          <a:xfrm>
            <a:off x="7021925" y="3812475"/>
            <a:ext cx="2121900" cy="37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YASH CHAUHAN</a:t>
            </a:r>
            <a:endParaRPr sz="1800">
              <a:solidFill>
                <a:schemeClr val="dk2"/>
              </a:solidFill>
            </a:endParaRPr>
          </a:p>
        </p:txBody>
      </p:sp>
      <p:sp>
        <p:nvSpPr>
          <p:cNvPr id="58" name="Google Shape;58;p13"/>
          <p:cNvSpPr txBox="1"/>
          <p:nvPr/>
        </p:nvSpPr>
        <p:spPr>
          <a:xfrm>
            <a:off x="7021925" y="4183275"/>
            <a:ext cx="2273700" cy="61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 Yuval Ronen’s Group</a:t>
            </a:r>
            <a:endParaRPr sz="18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pic>
        <p:nvPicPr>
          <p:cNvPr id="63" name="Google Shape;63;p14"/>
          <p:cNvPicPr preferRelativeResize="0"/>
          <p:nvPr/>
        </p:nvPicPr>
        <p:blipFill>
          <a:blip r:embed="rId3">
            <a:alphaModFix/>
          </a:blip>
          <a:stretch>
            <a:fillRect/>
          </a:stretch>
        </p:blipFill>
        <p:spPr>
          <a:xfrm>
            <a:off x="323850" y="466713"/>
            <a:ext cx="8496300" cy="2105025"/>
          </a:xfrm>
          <a:prstGeom prst="rect">
            <a:avLst/>
          </a:prstGeom>
          <a:noFill/>
          <a:ln>
            <a:noFill/>
          </a:ln>
        </p:spPr>
      </p:pic>
      <p:sp>
        <p:nvSpPr>
          <p:cNvPr id="64" name="Google Shape;64;p14"/>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are particles different in 2D? </a:t>
            </a:r>
            <a:endParaRPr/>
          </a:p>
          <a:p>
            <a:pPr indent="0" lvl="0" marL="0" rtl="0" algn="l">
              <a:spcBef>
                <a:spcPts val="0"/>
              </a:spcBef>
              <a:spcAft>
                <a:spcPts val="0"/>
              </a:spcAft>
              <a:buNone/>
            </a:pPr>
            <a:r>
              <a:t/>
            </a:r>
            <a:endParaRPr/>
          </a:p>
        </p:txBody>
      </p:sp>
      <p:pic>
        <p:nvPicPr>
          <p:cNvPr descr="A diagram of a cone shaped object&#10;&#10;AI-generated content may be incorrect." id="65" name="Google Shape;65;p14"/>
          <p:cNvPicPr preferRelativeResize="0"/>
          <p:nvPr/>
        </p:nvPicPr>
        <p:blipFill rotWithShape="1">
          <a:blip r:embed="rId4">
            <a:alphaModFix/>
          </a:blip>
          <a:srcRect b="0" l="0" r="0" t="0"/>
          <a:stretch/>
        </p:blipFill>
        <p:spPr>
          <a:xfrm>
            <a:off x="323850" y="2571751"/>
            <a:ext cx="4356172" cy="1361304"/>
          </a:xfrm>
          <a:prstGeom prst="rect">
            <a:avLst/>
          </a:prstGeom>
          <a:noFill/>
          <a:ln cap="sq" cmpd="sng" w="9675">
            <a:solidFill>
              <a:srgbClr val="000000"/>
            </a:solidFill>
            <a:prstDash val="solid"/>
            <a:miter lim="8000"/>
            <a:headEnd len="sm" w="sm" type="none"/>
            <a:tailEnd len="sm" w="sm" type="none"/>
          </a:ln>
          <a:effectLst>
            <a:outerShdw blurRad="43562" rotWithShape="0" algn="tl" dir="2700000" dist="38722">
              <a:srgbClr val="000000">
                <a:alpha val="40000"/>
              </a:srgbClr>
            </a:outerShdw>
          </a:effectLst>
        </p:spPr>
      </p:pic>
      <p:sp>
        <p:nvSpPr>
          <p:cNvPr id="66" name="Google Shape;66;p14"/>
          <p:cNvSpPr txBox="1"/>
          <p:nvPr/>
        </p:nvSpPr>
        <p:spPr>
          <a:xfrm>
            <a:off x="876840" y="4300891"/>
            <a:ext cx="1414800" cy="181500"/>
          </a:xfrm>
          <a:prstGeom prst="rect">
            <a:avLst/>
          </a:prstGeom>
          <a:blipFill rotWithShape="1">
            <a:blip r:embed="rId5">
              <a:alphaModFix/>
            </a:blip>
            <a:stretch>
              <a:fillRect b="-32071" l="0" r="0" t="0"/>
            </a:stretch>
          </a:blipFill>
          <a:ln>
            <a:noFill/>
          </a:ln>
        </p:spPr>
        <p:txBody>
          <a:bodyPr anchorCtr="0" anchor="t" bIns="26125" lIns="52275" spcFirstLastPara="1" rIns="52275" wrap="square" tIns="26125">
            <a:noAutofit/>
          </a:bodyPr>
          <a:lstStyle/>
          <a:p>
            <a:pPr indent="0" lvl="0" marL="0" marR="0" rtl="0" algn="l">
              <a:spcBef>
                <a:spcPts val="0"/>
              </a:spcBef>
              <a:spcAft>
                <a:spcPts val="0"/>
              </a:spcAft>
              <a:buNone/>
            </a:pPr>
            <a:r>
              <a:rPr lang="en" sz="1067">
                <a:latin typeface="Arial"/>
                <a:ea typeface="Arial"/>
                <a:cs typeface="Arial"/>
                <a:sym typeface="Arial"/>
              </a:rPr>
              <a:t> </a:t>
            </a:r>
            <a:endParaRPr sz="838"/>
          </a:p>
        </p:txBody>
      </p:sp>
      <p:sp>
        <p:nvSpPr>
          <p:cNvPr id="67" name="Google Shape;67;p14"/>
          <p:cNvSpPr txBox="1"/>
          <p:nvPr/>
        </p:nvSpPr>
        <p:spPr>
          <a:xfrm>
            <a:off x="1332789" y="4505410"/>
            <a:ext cx="502800" cy="211200"/>
          </a:xfrm>
          <a:prstGeom prst="rect">
            <a:avLst/>
          </a:prstGeom>
          <a:blipFill rotWithShape="1">
            <a:blip r:embed="rId6">
              <a:alphaModFix/>
            </a:blip>
            <a:stretch>
              <a:fillRect b="-26230" l="0" r="0" t="-6560"/>
            </a:stretch>
          </a:blipFill>
          <a:ln>
            <a:noFill/>
          </a:ln>
        </p:spPr>
        <p:txBody>
          <a:bodyPr anchorCtr="0" anchor="t" bIns="26125" lIns="52275" spcFirstLastPara="1" rIns="52275" wrap="square" tIns="26125">
            <a:noAutofit/>
          </a:bodyPr>
          <a:lstStyle/>
          <a:p>
            <a:pPr indent="0" lvl="0" marL="0" marR="0" rtl="0" algn="l">
              <a:spcBef>
                <a:spcPts val="0"/>
              </a:spcBef>
              <a:spcAft>
                <a:spcPts val="0"/>
              </a:spcAft>
              <a:buNone/>
            </a:pPr>
            <a:r>
              <a:rPr lang="en" sz="1067">
                <a:latin typeface="Arial"/>
                <a:ea typeface="Arial"/>
                <a:cs typeface="Arial"/>
                <a:sym typeface="Arial"/>
              </a:rPr>
              <a:t> </a:t>
            </a:r>
            <a:endParaRPr sz="838"/>
          </a:p>
        </p:txBody>
      </p:sp>
      <p:sp>
        <p:nvSpPr>
          <p:cNvPr id="68" name="Google Shape;68;p14"/>
          <p:cNvSpPr txBox="1"/>
          <p:nvPr/>
        </p:nvSpPr>
        <p:spPr>
          <a:xfrm>
            <a:off x="3313462" y="4564063"/>
            <a:ext cx="678600" cy="211200"/>
          </a:xfrm>
          <a:prstGeom prst="rect">
            <a:avLst/>
          </a:prstGeom>
          <a:blipFill rotWithShape="1">
            <a:blip r:embed="rId7">
              <a:alphaModFix/>
            </a:blip>
            <a:stretch>
              <a:fillRect b="0" l="0" r="0" t="0"/>
            </a:stretch>
          </a:blipFill>
          <a:ln>
            <a:noFill/>
          </a:ln>
        </p:spPr>
        <p:txBody>
          <a:bodyPr anchorCtr="0" anchor="t" bIns="26125" lIns="52275" spcFirstLastPara="1" rIns="52275" wrap="square" tIns="26125">
            <a:noAutofit/>
          </a:bodyPr>
          <a:lstStyle/>
          <a:p>
            <a:pPr indent="0" lvl="0" marL="0" marR="0" rtl="0" algn="l">
              <a:spcBef>
                <a:spcPts val="0"/>
              </a:spcBef>
              <a:spcAft>
                <a:spcPts val="0"/>
              </a:spcAft>
              <a:buNone/>
            </a:pPr>
            <a:r>
              <a:rPr lang="en" sz="1067">
                <a:latin typeface="Arial"/>
                <a:ea typeface="Arial"/>
                <a:cs typeface="Arial"/>
                <a:sym typeface="Arial"/>
              </a:rPr>
              <a:t> </a:t>
            </a:r>
            <a:endParaRPr sz="838"/>
          </a:p>
        </p:txBody>
      </p:sp>
      <p:sp>
        <p:nvSpPr>
          <p:cNvPr id="69" name="Google Shape;69;p14"/>
          <p:cNvSpPr txBox="1"/>
          <p:nvPr/>
        </p:nvSpPr>
        <p:spPr>
          <a:xfrm>
            <a:off x="2945463" y="4330367"/>
            <a:ext cx="1414800" cy="181500"/>
          </a:xfrm>
          <a:prstGeom prst="rect">
            <a:avLst/>
          </a:prstGeom>
          <a:blipFill rotWithShape="1">
            <a:blip r:embed="rId8">
              <a:alphaModFix/>
            </a:blip>
            <a:stretch>
              <a:fillRect b="-32701" l="0" r="0" t="-1920"/>
            </a:stretch>
          </a:blipFill>
          <a:ln>
            <a:noFill/>
          </a:ln>
        </p:spPr>
        <p:txBody>
          <a:bodyPr anchorCtr="0" anchor="t" bIns="26125" lIns="52275" spcFirstLastPara="1" rIns="52275" wrap="square" tIns="26125">
            <a:noAutofit/>
          </a:bodyPr>
          <a:lstStyle/>
          <a:p>
            <a:pPr indent="0" lvl="0" marL="0" marR="0" rtl="0" algn="l">
              <a:spcBef>
                <a:spcPts val="0"/>
              </a:spcBef>
              <a:spcAft>
                <a:spcPts val="0"/>
              </a:spcAft>
              <a:buNone/>
            </a:pPr>
            <a:r>
              <a:rPr lang="en" sz="1067">
                <a:latin typeface="Arial"/>
                <a:ea typeface="Arial"/>
                <a:cs typeface="Arial"/>
                <a:sym typeface="Arial"/>
              </a:rPr>
              <a:t> </a:t>
            </a:r>
            <a:endParaRPr sz="838"/>
          </a:p>
        </p:txBody>
      </p:sp>
      <p:sp>
        <p:nvSpPr>
          <p:cNvPr id="70" name="Google Shape;70;p14"/>
          <p:cNvSpPr txBox="1"/>
          <p:nvPr/>
        </p:nvSpPr>
        <p:spPr>
          <a:xfrm>
            <a:off x="7323900" y="4631850"/>
            <a:ext cx="18201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solidFill>
                  <a:srgbClr val="434343"/>
                </a:solidFill>
              </a:rPr>
              <a:t>SciPost Phys. 3, 021 (2017)</a:t>
            </a:r>
            <a:endParaRPr sz="800">
              <a:solidFill>
                <a:srgbClr val="434343"/>
              </a:solidFill>
            </a:endParaRPr>
          </a:p>
        </p:txBody>
      </p:sp>
      <p:sp>
        <p:nvSpPr>
          <p:cNvPr id="71" name="Google Shape;71;p14"/>
          <p:cNvSpPr txBox="1"/>
          <p:nvPr/>
        </p:nvSpPr>
        <p:spPr>
          <a:xfrm>
            <a:off x="6018650" y="4851000"/>
            <a:ext cx="31257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solidFill>
                  <a:srgbClr val="434343"/>
                </a:solidFill>
              </a:rPr>
              <a:t>https://www.nist.gov/news-events/news/2025/02/anyone-anyons</a:t>
            </a:r>
            <a:endParaRPr sz="1200">
              <a:solidFill>
                <a:srgbClr val="434343"/>
              </a:solidFill>
            </a:endParaRPr>
          </a:p>
        </p:txBody>
      </p:sp>
      <p:pic>
        <p:nvPicPr>
          <p:cNvPr id="72" name="Google Shape;72;p14"/>
          <p:cNvPicPr preferRelativeResize="0"/>
          <p:nvPr/>
        </p:nvPicPr>
        <p:blipFill>
          <a:blip r:embed="rId9">
            <a:alphaModFix/>
          </a:blip>
          <a:stretch>
            <a:fillRect/>
          </a:stretch>
        </p:blipFill>
        <p:spPr>
          <a:xfrm>
            <a:off x="5078425" y="2571751"/>
            <a:ext cx="3210077" cy="206009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5"/>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do we care about anyons? </a:t>
            </a:r>
            <a:endParaRPr/>
          </a:p>
          <a:p>
            <a:pPr indent="0" lvl="0" marL="0" rtl="0" algn="l">
              <a:spcBef>
                <a:spcPts val="0"/>
              </a:spcBef>
              <a:spcAft>
                <a:spcPts val="0"/>
              </a:spcAft>
              <a:buNone/>
            </a:pPr>
            <a:r>
              <a:t/>
            </a:r>
            <a:endParaRPr/>
          </a:p>
        </p:txBody>
      </p:sp>
      <p:pic>
        <p:nvPicPr>
          <p:cNvPr id="78" name="Google Shape;78;p15"/>
          <p:cNvPicPr preferRelativeResize="0"/>
          <p:nvPr/>
        </p:nvPicPr>
        <p:blipFill>
          <a:blip r:embed="rId3">
            <a:alphaModFix/>
          </a:blip>
          <a:stretch>
            <a:fillRect/>
          </a:stretch>
        </p:blipFill>
        <p:spPr>
          <a:xfrm>
            <a:off x="152400" y="725100"/>
            <a:ext cx="5688000" cy="4266000"/>
          </a:xfrm>
          <a:prstGeom prst="rect">
            <a:avLst/>
          </a:prstGeom>
          <a:noFill/>
          <a:ln>
            <a:noFill/>
          </a:ln>
        </p:spPr>
      </p:pic>
      <p:pic>
        <p:nvPicPr>
          <p:cNvPr id="79" name="Google Shape;79;p15"/>
          <p:cNvPicPr preferRelativeResize="0"/>
          <p:nvPr/>
        </p:nvPicPr>
        <p:blipFill>
          <a:blip r:embed="rId4">
            <a:alphaModFix/>
          </a:blip>
          <a:stretch>
            <a:fillRect/>
          </a:stretch>
        </p:blipFill>
        <p:spPr>
          <a:xfrm>
            <a:off x="5840400" y="839725"/>
            <a:ext cx="3079175" cy="1732025"/>
          </a:xfrm>
          <a:prstGeom prst="rect">
            <a:avLst/>
          </a:prstGeom>
          <a:noFill/>
          <a:ln>
            <a:noFill/>
          </a:ln>
        </p:spPr>
      </p:pic>
      <p:sp>
        <p:nvSpPr>
          <p:cNvPr id="80" name="Google Shape;80;p15"/>
          <p:cNvSpPr txBox="1"/>
          <p:nvPr/>
        </p:nvSpPr>
        <p:spPr>
          <a:xfrm>
            <a:off x="5840400" y="2980250"/>
            <a:ext cx="3079200" cy="18897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b="1" lang="en" sz="1100">
                <a:solidFill>
                  <a:schemeClr val="dk1"/>
                </a:solidFill>
              </a:rPr>
              <a:t>Braiding anyons can manipulate quantum information</a:t>
            </a:r>
            <a:endParaRPr b="1" sz="1100">
              <a:solidFill>
                <a:schemeClr val="dk1"/>
              </a:solidFill>
            </a:endParaRPr>
          </a:p>
          <a:p>
            <a:pPr indent="0" lvl="0" marL="0" rtl="0" algn="l">
              <a:spcBef>
                <a:spcPts val="0"/>
              </a:spcBef>
              <a:spcAft>
                <a:spcPts val="0"/>
              </a:spcAft>
              <a:buNone/>
            </a:pPr>
            <a:r>
              <a:t/>
            </a:r>
            <a:endParaRPr b="1"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Information is stored non-locally, making it less sensitive to local disturbances</a:t>
            </a:r>
            <a:endParaRPr b="1" sz="1100">
              <a:solidFill>
                <a:schemeClr val="dk1"/>
              </a:solidFill>
            </a:endParaRPr>
          </a:p>
          <a:p>
            <a:pPr indent="0" lvl="0" marL="0" rtl="0" algn="l">
              <a:spcBef>
                <a:spcPts val="0"/>
              </a:spcBef>
              <a:spcAft>
                <a:spcPts val="0"/>
              </a:spcAft>
              <a:buNone/>
            </a:pPr>
            <a:r>
              <a:t/>
            </a:r>
            <a:endParaRPr b="1"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Potential route toward fault-tolerant quantum computation</a:t>
            </a:r>
            <a:endParaRPr b="1" sz="1100">
              <a:solidFill>
                <a:schemeClr val="dk1"/>
              </a:solidFill>
            </a:endParaRPr>
          </a:p>
        </p:txBody>
      </p:sp>
      <p:sp>
        <p:nvSpPr>
          <p:cNvPr id="81" name="Google Shape;81;p15"/>
          <p:cNvSpPr txBox="1"/>
          <p:nvPr/>
        </p:nvSpPr>
        <p:spPr>
          <a:xfrm>
            <a:off x="6211075" y="4795075"/>
            <a:ext cx="30000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700">
                <a:solidFill>
                  <a:srgbClr val="434343"/>
                </a:solidFill>
              </a:rPr>
              <a:t>https://en.wikipedia.org/wiki/Topological_quantum_computer</a:t>
            </a:r>
            <a:endParaRPr sz="700">
              <a:solidFill>
                <a:srgbClr val="434343"/>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6"/>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Where do we find anyons? </a:t>
            </a:r>
            <a:endParaRPr/>
          </a:p>
        </p:txBody>
      </p:sp>
      <p:pic>
        <p:nvPicPr>
          <p:cNvPr id="87" name="Google Shape;87;p16"/>
          <p:cNvPicPr preferRelativeResize="0"/>
          <p:nvPr/>
        </p:nvPicPr>
        <p:blipFill>
          <a:blip r:embed="rId3">
            <a:alphaModFix/>
          </a:blip>
          <a:stretch>
            <a:fillRect/>
          </a:stretch>
        </p:blipFill>
        <p:spPr>
          <a:xfrm>
            <a:off x="0" y="572700"/>
            <a:ext cx="5259000" cy="2926050"/>
          </a:xfrm>
          <a:prstGeom prst="rect">
            <a:avLst/>
          </a:prstGeom>
          <a:noFill/>
          <a:ln>
            <a:noFill/>
          </a:ln>
        </p:spPr>
      </p:pic>
      <p:sp>
        <p:nvSpPr>
          <p:cNvPr id="88" name="Google Shape;88;p16"/>
          <p:cNvSpPr txBox="1"/>
          <p:nvPr/>
        </p:nvSpPr>
        <p:spPr>
          <a:xfrm>
            <a:off x="6144000" y="4851000"/>
            <a:ext cx="30000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i="1" lang="en" sz="700">
                <a:solidFill>
                  <a:srgbClr val="434343"/>
                </a:solidFill>
              </a:rPr>
              <a:t>Nat Rev Phys</a:t>
            </a:r>
            <a:r>
              <a:rPr lang="en" sz="700">
                <a:solidFill>
                  <a:srgbClr val="434343"/>
                </a:solidFill>
              </a:rPr>
              <a:t> </a:t>
            </a:r>
            <a:r>
              <a:rPr b="1" lang="en" sz="700">
                <a:solidFill>
                  <a:srgbClr val="434343"/>
                </a:solidFill>
              </a:rPr>
              <a:t>2</a:t>
            </a:r>
            <a:r>
              <a:rPr lang="en" sz="700">
                <a:solidFill>
                  <a:srgbClr val="434343"/>
                </a:solidFill>
              </a:rPr>
              <a:t>, 397–401 (2020) </a:t>
            </a:r>
            <a:endParaRPr sz="700">
              <a:solidFill>
                <a:srgbClr val="434343"/>
              </a:solidFill>
            </a:endParaRPr>
          </a:p>
        </p:txBody>
      </p:sp>
      <p:pic>
        <p:nvPicPr>
          <p:cNvPr id="89" name="Google Shape;89;p16"/>
          <p:cNvPicPr preferRelativeResize="0"/>
          <p:nvPr/>
        </p:nvPicPr>
        <p:blipFill>
          <a:blip r:embed="rId4">
            <a:alphaModFix/>
          </a:blip>
          <a:stretch>
            <a:fillRect/>
          </a:stretch>
        </p:blipFill>
        <p:spPr>
          <a:xfrm>
            <a:off x="4822224" y="2479550"/>
            <a:ext cx="4321776" cy="2312449"/>
          </a:xfrm>
          <a:prstGeom prst="rect">
            <a:avLst/>
          </a:prstGeom>
          <a:noFill/>
          <a:ln>
            <a:noFill/>
          </a:ln>
        </p:spPr>
      </p:pic>
      <p:sp>
        <p:nvSpPr>
          <p:cNvPr id="90" name="Google Shape;90;p16"/>
          <p:cNvSpPr txBox="1"/>
          <p:nvPr/>
        </p:nvSpPr>
        <p:spPr>
          <a:xfrm>
            <a:off x="5624300" y="178900"/>
            <a:ext cx="3279300" cy="1906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300">
                <a:solidFill>
                  <a:schemeClr val="dk1"/>
                </a:solidFill>
              </a:rPr>
              <a:t>Fractional Quantum Hall regime</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Strong magnetic field confines electrons into Landau levels</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Disorder localizes bulk states, while edge states remain conducting</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Interactions produce fractionally charged quasiparticles that propagate along the edges</a:t>
            </a:r>
            <a:endParaRPr b="1" sz="11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7"/>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Where do we find anyons? </a:t>
            </a:r>
            <a:endParaRPr/>
          </a:p>
        </p:txBody>
      </p:sp>
      <p:pic>
        <p:nvPicPr>
          <p:cNvPr id="96" name="Google Shape;96;p17"/>
          <p:cNvPicPr preferRelativeResize="0"/>
          <p:nvPr/>
        </p:nvPicPr>
        <p:blipFill>
          <a:blip r:embed="rId3">
            <a:alphaModFix/>
          </a:blip>
          <a:stretch>
            <a:fillRect/>
          </a:stretch>
        </p:blipFill>
        <p:spPr>
          <a:xfrm>
            <a:off x="152400" y="725100"/>
            <a:ext cx="1907975" cy="1061575"/>
          </a:xfrm>
          <a:prstGeom prst="rect">
            <a:avLst/>
          </a:prstGeom>
          <a:noFill/>
          <a:ln>
            <a:noFill/>
          </a:ln>
        </p:spPr>
      </p:pic>
      <p:sp>
        <p:nvSpPr>
          <p:cNvPr id="97" name="Google Shape;97;p17"/>
          <p:cNvSpPr txBox="1"/>
          <p:nvPr/>
        </p:nvSpPr>
        <p:spPr>
          <a:xfrm>
            <a:off x="6144000" y="4558500"/>
            <a:ext cx="30000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i="1" lang="en" sz="700">
                <a:solidFill>
                  <a:srgbClr val="434343"/>
                </a:solidFill>
              </a:rPr>
              <a:t>Nat Rev Phys</a:t>
            </a:r>
            <a:r>
              <a:rPr lang="en" sz="700">
                <a:solidFill>
                  <a:srgbClr val="434343"/>
                </a:solidFill>
              </a:rPr>
              <a:t> </a:t>
            </a:r>
            <a:r>
              <a:rPr b="1" lang="en" sz="700">
                <a:solidFill>
                  <a:srgbClr val="434343"/>
                </a:solidFill>
              </a:rPr>
              <a:t>2</a:t>
            </a:r>
            <a:r>
              <a:rPr lang="en" sz="700">
                <a:solidFill>
                  <a:srgbClr val="434343"/>
                </a:solidFill>
              </a:rPr>
              <a:t>, 397–401 (2020) </a:t>
            </a:r>
            <a:endParaRPr sz="700">
              <a:solidFill>
                <a:srgbClr val="434343"/>
              </a:solidFill>
            </a:endParaRPr>
          </a:p>
        </p:txBody>
      </p:sp>
      <p:pic>
        <p:nvPicPr>
          <p:cNvPr id="98" name="Google Shape;98;p17" title="QuantumHallEffectExplanationWithLandauLevels.ogv.480p.vp9.gif"/>
          <p:cNvPicPr preferRelativeResize="0"/>
          <p:nvPr/>
        </p:nvPicPr>
        <p:blipFill>
          <a:blip r:embed="rId4">
            <a:alphaModFix/>
          </a:blip>
          <a:stretch>
            <a:fillRect/>
          </a:stretch>
        </p:blipFill>
        <p:spPr>
          <a:xfrm>
            <a:off x="4801825" y="0"/>
            <a:ext cx="4342174" cy="3256631"/>
          </a:xfrm>
          <a:prstGeom prst="rect">
            <a:avLst/>
          </a:prstGeom>
          <a:noFill/>
          <a:ln>
            <a:noFill/>
          </a:ln>
        </p:spPr>
      </p:pic>
      <p:pic>
        <p:nvPicPr>
          <p:cNvPr id="99" name="Google Shape;99;p17"/>
          <p:cNvPicPr preferRelativeResize="0"/>
          <p:nvPr/>
        </p:nvPicPr>
        <p:blipFill>
          <a:blip r:embed="rId5">
            <a:alphaModFix/>
          </a:blip>
          <a:stretch>
            <a:fillRect/>
          </a:stretch>
        </p:blipFill>
        <p:spPr>
          <a:xfrm>
            <a:off x="0" y="2179100"/>
            <a:ext cx="3196475" cy="2964400"/>
          </a:xfrm>
          <a:prstGeom prst="rect">
            <a:avLst/>
          </a:prstGeom>
          <a:noFill/>
          <a:ln>
            <a:noFill/>
          </a:ln>
        </p:spPr>
      </p:pic>
      <p:pic>
        <p:nvPicPr>
          <p:cNvPr id="100" name="Google Shape;100;p17"/>
          <p:cNvPicPr preferRelativeResize="0"/>
          <p:nvPr/>
        </p:nvPicPr>
        <p:blipFill>
          <a:blip r:embed="rId6">
            <a:alphaModFix/>
          </a:blip>
          <a:stretch>
            <a:fillRect/>
          </a:stretch>
        </p:blipFill>
        <p:spPr>
          <a:xfrm>
            <a:off x="2060375" y="777437"/>
            <a:ext cx="1983999" cy="1061575"/>
          </a:xfrm>
          <a:prstGeom prst="rect">
            <a:avLst/>
          </a:prstGeom>
          <a:noFill/>
          <a:ln>
            <a:noFill/>
          </a:ln>
        </p:spPr>
      </p:pic>
      <p:pic>
        <p:nvPicPr>
          <p:cNvPr id="101" name="Google Shape;101;p17"/>
          <p:cNvPicPr preferRelativeResize="0"/>
          <p:nvPr/>
        </p:nvPicPr>
        <p:blipFill>
          <a:blip r:embed="rId7">
            <a:alphaModFix/>
          </a:blip>
          <a:stretch>
            <a:fillRect/>
          </a:stretch>
        </p:blipFill>
        <p:spPr>
          <a:xfrm>
            <a:off x="3155025" y="3120650"/>
            <a:ext cx="2210561" cy="2022850"/>
          </a:xfrm>
          <a:prstGeom prst="rect">
            <a:avLst/>
          </a:prstGeom>
          <a:noFill/>
          <a:ln>
            <a:noFill/>
          </a:ln>
        </p:spPr>
      </p:pic>
      <p:sp>
        <p:nvSpPr>
          <p:cNvPr id="102" name="Google Shape;102;p17"/>
          <p:cNvSpPr txBox="1"/>
          <p:nvPr/>
        </p:nvSpPr>
        <p:spPr>
          <a:xfrm>
            <a:off x="6144000" y="4851000"/>
            <a:ext cx="30000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700">
                <a:solidFill>
                  <a:srgbClr val="434343"/>
                </a:solidFill>
              </a:rPr>
              <a:t>https://en.wikipedia.org/wiki/Quantum_Hall_effect</a:t>
            </a:r>
            <a:endParaRPr sz="700">
              <a:solidFill>
                <a:srgbClr val="434343"/>
              </a:solidFill>
            </a:endParaRPr>
          </a:p>
        </p:txBody>
      </p:sp>
      <p:sp>
        <p:nvSpPr>
          <p:cNvPr id="103" name="Google Shape;103;p17"/>
          <p:cNvSpPr txBox="1"/>
          <p:nvPr/>
        </p:nvSpPr>
        <p:spPr>
          <a:xfrm>
            <a:off x="5599300" y="3792213"/>
            <a:ext cx="30000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1"/>
                </a:solidFill>
              </a:rPr>
              <a:t>one of the most important platforms is the </a:t>
            </a:r>
            <a:r>
              <a:rPr b="1" lang="en" sz="1300">
                <a:solidFill>
                  <a:schemeClr val="dk1"/>
                </a:solidFill>
              </a:rPr>
              <a:t>fractional quantum Hall regime</a:t>
            </a: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7" name="Shape 107"/>
        <p:cNvGrpSpPr/>
        <p:nvPr/>
      </p:nvGrpSpPr>
      <p:grpSpPr>
        <a:xfrm>
          <a:off x="0" y="0"/>
          <a:ext cx="0" cy="0"/>
          <a:chOff x="0" y="0"/>
          <a:chExt cx="0" cy="0"/>
        </a:xfrm>
      </p:grpSpPr>
      <p:sp>
        <p:nvSpPr>
          <p:cNvPr id="108" name="Google Shape;108;p18"/>
          <p:cNvSpPr txBox="1"/>
          <p:nvPr>
            <p:ph type="title"/>
          </p:nvPr>
        </p:nvSpPr>
        <p:spPr>
          <a:xfrm>
            <a:off x="311700" y="2285400"/>
            <a:ext cx="8520600" cy="929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solidFill>
                  <a:schemeClr val="lt1"/>
                </a:solidFill>
              </a:rPr>
              <a:t>A “beam” of quasiparticles... </a:t>
            </a:r>
            <a:endParaRPr>
              <a:solidFill>
                <a:schemeClr val="lt1"/>
              </a:solidFill>
            </a:endParaRPr>
          </a:p>
          <a:p>
            <a:pPr indent="0" lvl="0" marL="0" rtl="0" algn="ctr">
              <a:spcBef>
                <a:spcPts val="0"/>
              </a:spcBef>
              <a:spcAft>
                <a:spcPts val="0"/>
              </a:spcAft>
              <a:buNone/>
            </a:pPr>
            <a:r>
              <a:rPr lang="en" sz="2000">
                <a:solidFill>
                  <a:schemeClr val="dk2"/>
                </a:solidFill>
              </a:rPr>
              <a:t>Can we make them interfere?</a:t>
            </a:r>
            <a:endParaRPr>
              <a:solidFill>
                <a:schemeClr val="l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12" name="Shape 112"/>
        <p:cNvGrpSpPr/>
        <p:nvPr/>
      </p:nvGrpSpPr>
      <p:grpSpPr>
        <a:xfrm>
          <a:off x="0" y="0"/>
          <a:ext cx="0" cy="0"/>
          <a:chOff x="0" y="0"/>
          <a:chExt cx="0" cy="0"/>
        </a:xfrm>
      </p:grpSpPr>
      <p:sp>
        <p:nvSpPr>
          <p:cNvPr id="113" name="Google Shape;113;p19"/>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Optical </a:t>
            </a:r>
            <a:r>
              <a:rPr lang="en">
                <a:solidFill>
                  <a:schemeClr val="lt1"/>
                </a:solidFill>
              </a:rPr>
              <a:t>Fabry–Pérot Interferometry </a:t>
            </a:r>
            <a:endParaRPr>
              <a:solidFill>
                <a:schemeClr val="lt1"/>
              </a:solidFill>
            </a:endParaRPr>
          </a:p>
        </p:txBody>
      </p:sp>
      <p:pic>
        <p:nvPicPr>
          <p:cNvPr id="114" name="Google Shape;114;p19" title="simplefp-ezgif.com-video-to-gif-converter.gif"/>
          <p:cNvPicPr preferRelativeResize="0"/>
          <p:nvPr/>
        </p:nvPicPr>
        <p:blipFill>
          <a:blip r:embed="rId3">
            <a:alphaModFix/>
          </a:blip>
          <a:stretch>
            <a:fillRect/>
          </a:stretch>
        </p:blipFill>
        <p:spPr>
          <a:xfrm>
            <a:off x="0" y="982275"/>
            <a:ext cx="5281350" cy="2970750"/>
          </a:xfrm>
          <a:prstGeom prst="rect">
            <a:avLst/>
          </a:prstGeom>
          <a:noFill/>
          <a:ln>
            <a:noFill/>
          </a:ln>
        </p:spPr>
      </p:pic>
      <p:pic>
        <p:nvPicPr>
          <p:cNvPr id="115" name="Google Shape;115;p19" title="ChatGPT Image Aug 12, 2026, 07_25_12 AM.png"/>
          <p:cNvPicPr preferRelativeResize="0"/>
          <p:nvPr/>
        </p:nvPicPr>
        <p:blipFill>
          <a:blip r:embed="rId4">
            <a:alphaModFix/>
          </a:blip>
          <a:stretch>
            <a:fillRect/>
          </a:stretch>
        </p:blipFill>
        <p:spPr>
          <a:xfrm>
            <a:off x="5411375" y="1385800"/>
            <a:ext cx="3557852" cy="2371901"/>
          </a:xfrm>
          <a:prstGeom prst="rect">
            <a:avLst/>
          </a:prstGeom>
          <a:noFill/>
          <a:ln>
            <a:noFill/>
          </a:ln>
        </p:spPr>
      </p:pic>
      <p:pic>
        <p:nvPicPr>
          <p:cNvPr id="116" name="Google Shape;116;p19"/>
          <p:cNvPicPr preferRelativeResize="0"/>
          <p:nvPr/>
        </p:nvPicPr>
        <p:blipFill>
          <a:blip r:embed="rId5">
            <a:alphaModFix/>
          </a:blip>
          <a:stretch>
            <a:fillRect/>
          </a:stretch>
        </p:blipFill>
        <p:spPr>
          <a:xfrm>
            <a:off x="6324625" y="3953025"/>
            <a:ext cx="2400300" cy="4857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20" name="Shape 120"/>
        <p:cNvGrpSpPr/>
        <p:nvPr/>
      </p:nvGrpSpPr>
      <p:grpSpPr>
        <a:xfrm>
          <a:off x="0" y="0"/>
          <a:ext cx="0" cy="0"/>
          <a:chOff x="0" y="0"/>
          <a:chExt cx="0" cy="0"/>
        </a:xfrm>
      </p:grpSpPr>
      <p:sp>
        <p:nvSpPr>
          <p:cNvPr id="121" name="Google Shape;121;p20"/>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Bosonic </a:t>
            </a:r>
            <a:r>
              <a:rPr lang="en">
                <a:solidFill>
                  <a:schemeClr val="lt1"/>
                </a:solidFill>
              </a:rPr>
              <a:t>Fabry–Pérot Interferometry </a:t>
            </a:r>
            <a:endParaRPr>
              <a:solidFill>
                <a:schemeClr val="lt1"/>
              </a:solidFill>
            </a:endParaRPr>
          </a:p>
        </p:txBody>
      </p:sp>
      <p:pic>
        <p:nvPicPr>
          <p:cNvPr id="122" name="Google Shape;122;p20" title="bosonfp-ezgif.com-video-to-gif-converter.gif"/>
          <p:cNvPicPr preferRelativeResize="0"/>
          <p:nvPr/>
        </p:nvPicPr>
        <p:blipFill>
          <a:blip r:embed="rId3">
            <a:alphaModFix/>
          </a:blip>
          <a:stretch>
            <a:fillRect/>
          </a:stretch>
        </p:blipFill>
        <p:spPr>
          <a:xfrm>
            <a:off x="152400" y="725100"/>
            <a:ext cx="4923550" cy="2769500"/>
          </a:xfrm>
          <a:prstGeom prst="rect">
            <a:avLst/>
          </a:prstGeom>
          <a:noFill/>
          <a:ln>
            <a:noFill/>
          </a:ln>
        </p:spPr>
      </p:pic>
      <p:pic>
        <p:nvPicPr>
          <p:cNvPr id="123" name="Google Shape;123;p20" title="ChatGPT Image Aug 12, 2026, 07_26_37 AM.png"/>
          <p:cNvPicPr preferRelativeResize="0"/>
          <p:nvPr/>
        </p:nvPicPr>
        <p:blipFill>
          <a:blip r:embed="rId4">
            <a:alphaModFix/>
          </a:blip>
          <a:stretch>
            <a:fillRect/>
          </a:stretch>
        </p:blipFill>
        <p:spPr>
          <a:xfrm>
            <a:off x="5153825" y="859250"/>
            <a:ext cx="3953027" cy="2635351"/>
          </a:xfrm>
          <a:prstGeom prst="rect">
            <a:avLst/>
          </a:prstGeom>
          <a:noFill/>
          <a:ln>
            <a:noFill/>
          </a:ln>
        </p:spPr>
      </p:pic>
      <p:pic>
        <p:nvPicPr>
          <p:cNvPr id="124" name="Google Shape;124;p20"/>
          <p:cNvPicPr preferRelativeResize="0"/>
          <p:nvPr/>
        </p:nvPicPr>
        <p:blipFill>
          <a:blip r:embed="rId5">
            <a:alphaModFix/>
          </a:blip>
          <a:stretch>
            <a:fillRect/>
          </a:stretch>
        </p:blipFill>
        <p:spPr>
          <a:xfrm>
            <a:off x="6587125" y="3494600"/>
            <a:ext cx="2102627" cy="572700"/>
          </a:xfrm>
          <a:prstGeom prst="rect">
            <a:avLst/>
          </a:prstGeom>
          <a:noFill/>
          <a:ln>
            <a:noFill/>
          </a:ln>
        </p:spPr>
      </p:pic>
      <p:pic>
        <p:nvPicPr>
          <p:cNvPr id="125" name="Google Shape;125;p20"/>
          <p:cNvPicPr preferRelativeResize="0"/>
          <p:nvPr/>
        </p:nvPicPr>
        <p:blipFill>
          <a:blip r:embed="rId6">
            <a:alphaModFix/>
          </a:blip>
          <a:stretch>
            <a:fillRect/>
          </a:stretch>
        </p:blipFill>
        <p:spPr>
          <a:xfrm>
            <a:off x="6223975" y="4067300"/>
            <a:ext cx="2828925" cy="676275"/>
          </a:xfrm>
          <a:prstGeom prst="rect">
            <a:avLst/>
          </a:prstGeom>
          <a:noFill/>
          <a:ln>
            <a:noFill/>
          </a:ln>
        </p:spPr>
      </p:pic>
      <p:sp>
        <p:nvSpPr>
          <p:cNvPr id="126" name="Google Shape;126;p20"/>
          <p:cNvSpPr txBox="1"/>
          <p:nvPr/>
        </p:nvSpPr>
        <p:spPr>
          <a:xfrm>
            <a:off x="0" y="3757000"/>
            <a:ext cx="5795100" cy="96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chemeClr val="lt1"/>
                </a:solidFill>
              </a:rPr>
              <a:t>Encircling another boson introduces no additional statistical phase, so the interference pattern remains unchanged. </a:t>
            </a:r>
            <a:endParaRPr b="1" sz="1700">
              <a:solidFill>
                <a:schemeClr val="l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30" name="Shape 130"/>
        <p:cNvGrpSpPr/>
        <p:nvPr/>
      </p:nvGrpSpPr>
      <p:grpSpPr>
        <a:xfrm>
          <a:off x="0" y="0"/>
          <a:ext cx="0" cy="0"/>
          <a:chOff x="0" y="0"/>
          <a:chExt cx="0" cy="0"/>
        </a:xfrm>
      </p:grpSpPr>
      <p:sp>
        <p:nvSpPr>
          <p:cNvPr id="131" name="Google Shape;131;p21"/>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Electronic </a:t>
            </a:r>
            <a:r>
              <a:rPr lang="en">
                <a:solidFill>
                  <a:schemeClr val="lt1"/>
                </a:solidFill>
              </a:rPr>
              <a:t>Fabry–Pérot Interferometry </a:t>
            </a:r>
            <a:endParaRPr>
              <a:solidFill>
                <a:schemeClr val="lt1"/>
              </a:solidFill>
            </a:endParaRPr>
          </a:p>
        </p:txBody>
      </p:sp>
      <p:pic>
        <p:nvPicPr>
          <p:cNvPr id="132" name="Google Shape;132;p21" title="elecfp-ezgif.com-video-to-gif-converter.gif"/>
          <p:cNvPicPr preferRelativeResize="0"/>
          <p:nvPr/>
        </p:nvPicPr>
        <p:blipFill>
          <a:blip r:embed="rId3">
            <a:alphaModFix/>
          </a:blip>
          <a:stretch>
            <a:fillRect/>
          </a:stretch>
        </p:blipFill>
        <p:spPr>
          <a:xfrm>
            <a:off x="152400" y="725100"/>
            <a:ext cx="4923550" cy="2769500"/>
          </a:xfrm>
          <a:prstGeom prst="rect">
            <a:avLst/>
          </a:prstGeom>
          <a:noFill/>
          <a:ln>
            <a:noFill/>
          </a:ln>
        </p:spPr>
      </p:pic>
      <p:pic>
        <p:nvPicPr>
          <p:cNvPr id="133" name="Google Shape;133;p21" title="ChatGPT Image Aug 12, 2026, 07_28_24 AM.png"/>
          <p:cNvPicPr preferRelativeResize="0"/>
          <p:nvPr/>
        </p:nvPicPr>
        <p:blipFill>
          <a:blip r:embed="rId4">
            <a:alphaModFix/>
          </a:blip>
          <a:stretch>
            <a:fillRect/>
          </a:stretch>
        </p:blipFill>
        <p:spPr>
          <a:xfrm>
            <a:off x="5176800" y="725100"/>
            <a:ext cx="3967200" cy="2644800"/>
          </a:xfrm>
          <a:prstGeom prst="rect">
            <a:avLst/>
          </a:prstGeom>
          <a:noFill/>
          <a:ln>
            <a:noFill/>
          </a:ln>
        </p:spPr>
      </p:pic>
      <p:pic>
        <p:nvPicPr>
          <p:cNvPr id="134" name="Google Shape;134;p21"/>
          <p:cNvPicPr preferRelativeResize="0"/>
          <p:nvPr/>
        </p:nvPicPr>
        <p:blipFill>
          <a:blip r:embed="rId5">
            <a:alphaModFix/>
          </a:blip>
          <a:stretch>
            <a:fillRect/>
          </a:stretch>
        </p:blipFill>
        <p:spPr>
          <a:xfrm>
            <a:off x="5774513" y="3522300"/>
            <a:ext cx="2771775" cy="571500"/>
          </a:xfrm>
          <a:prstGeom prst="rect">
            <a:avLst/>
          </a:prstGeom>
          <a:noFill/>
          <a:ln>
            <a:noFill/>
          </a:ln>
        </p:spPr>
      </p:pic>
      <p:pic>
        <p:nvPicPr>
          <p:cNvPr id="135" name="Google Shape;135;p21"/>
          <p:cNvPicPr preferRelativeResize="0"/>
          <p:nvPr/>
        </p:nvPicPr>
        <p:blipFill>
          <a:blip r:embed="rId6">
            <a:alphaModFix/>
          </a:blip>
          <a:stretch>
            <a:fillRect/>
          </a:stretch>
        </p:blipFill>
        <p:spPr>
          <a:xfrm>
            <a:off x="5722138" y="4246200"/>
            <a:ext cx="2876550" cy="590550"/>
          </a:xfrm>
          <a:prstGeom prst="rect">
            <a:avLst/>
          </a:prstGeom>
          <a:noFill/>
          <a:ln>
            <a:noFill/>
          </a:ln>
        </p:spPr>
      </p:pic>
      <p:sp>
        <p:nvSpPr>
          <p:cNvPr id="136" name="Google Shape;136;p21"/>
          <p:cNvSpPr txBox="1"/>
          <p:nvPr/>
        </p:nvSpPr>
        <p:spPr>
          <a:xfrm>
            <a:off x="67150" y="3734600"/>
            <a:ext cx="5707500" cy="96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chemeClr val="lt1"/>
                </a:solidFill>
              </a:rPr>
              <a:t>Encircling another fermion produces no observable statistical shift, so the interference pattern remains unchanged. </a:t>
            </a:r>
            <a:endParaRPr b="1" sz="1700">
              <a:solidFill>
                <a:schemeClr val="l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40" name="Shape 140"/>
        <p:cNvGrpSpPr/>
        <p:nvPr/>
      </p:nvGrpSpPr>
      <p:grpSpPr>
        <a:xfrm>
          <a:off x="0" y="0"/>
          <a:ext cx="0" cy="0"/>
          <a:chOff x="0" y="0"/>
          <a:chExt cx="0" cy="0"/>
        </a:xfrm>
      </p:grpSpPr>
      <p:sp>
        <p:nvSpPr>
          <p:cNvPr id="141" name="Google Shape;141;p22"/>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Quasi-particle </a:t>
            </a:r>
            <a:r>
              <a:rPr lang="en">
                <a:solidFill>
                  <a:schemeClr val="lt1"/>
                </a:solidFill>
              </a:rPr>
              <a:t>Fabry–Pérot Interferometry </a:t>
            </a:r>
            <a:endParaRPr>
              <a:solidFill>
                <a:schemeClr val="lt1"/>
              </a:solidFill>
            </a:endParaRPr>
          </a:p>
        </p:txBody>
      </p:sp>
      <p:pic>
        <p:nvPicPr>
          <p:cNvPr id="142" name="Google Shape;142;p22" title="anyonfp-ezgif.com-video-to-gif-converter.gif"/>
          <p:cNvPicPr preferRelativeResize="0"/>
          <p:nvPr/>
        </p:nvPicPr>
        <p:blipFill>
          <a:blip r:embed="rId3">
            <a:alphaModFix/>
          </a:blip>
          <a:stretch>
            <a:fillRect/>
          </a:stretch>
        </p:blipFill>
        <p:spPr>
          <a:xfrm>
            <a:off x="152400" y="725100"/>
            <a:ext cx="5062726" cy="2847776"/>
          </a:xfrm>
          <a:prstGeom prst="rect">
            <a:avLst/>
          </a:prstGeom>
          <a:noFill/>
          <a:ln>
            <a:noFill/>
          </a:ln>
        </p:spPr>
      </p:pic>
      <p:pic>
        <p:nvPicPr>
          <p:cNvPr id="143" name="Google Shape;143;p22" title="ChatGPT Image Aug 12, 2026, 07_31_41 AM.png"/>
          <p:cNvPicPr preferRelativeResize="0"/>
          <p:nvPr/>
        </p:nvPicPr>
        <p:blipFill>
          <a:blip r:embed="rId4">
            <a:alphaModFix/>
          </a:blip>
          <a:stretch>
            <a:fillRect/>
          </a:stretch>
        </p:blipFill>
        <p:spPr>
          <a:xfrm>
            <a:off x="5289250" y="814525"/>
            <a:ext cx="3854749" cy="2569833"/>
          </a:xfrm>
          <a:prstGeom prst="rect">
            <a:avLst/>
          </a:prstGeom>
          <a:noFill/>
          <a:ln>
            <a:noFill/>
          </a:ln>
        </p:spPr>
      </p:pic>
      <p:pic>
        <p:nvPicPr>
          <p:cNvPr id="144" name="Google Shape;144;p22"/>
          <p:cNvPicPr preferRelativeResize="0"/>
          <p:nvPr/>
        </p:nvPicPr>
        <p:blipFill>
          <a:blip r:embed="rId5">
            <a:alphaModFix/>
          </a:blip>
          <a:stretch>
            <a:fillRect/>
          </a:stretch>
        </p:blipFill>
        <p:spPr>
          <a:xfrm>
            <a:off x="6179225" y="3384350"/>
            <a:ext cx="2457450" cy="600075"/>
          </a:xfrm>
          <a:prstGeom prst="rect">
            <a:avLst/>
          </a:prstGeom>
          <a:noFill/>
          <a:ln>
            <a:noFill/>
          </a:ln>
        </p:spPr>
      </p:pic>
      <p:pic>
        <p:nvPicPr>
          <p:cNvPr id="145" name="Google Shape;145;p22"/>
          <p:cNvPicPr preferRelativeResize="0"/>
          <p:nvPr/>
        </p:nvPicPr>
        <p:blipFill>
          <a:blip r:embed="rId6">
            <a:alphaModFix/>
          </a:blip>
          <a:stretch>
            <a:fillRect/>
          </a:stretch>
        </p:blipFill>
        <p:spPr>
          <a:xfrm>
            <a:off x="6164938" y="4114476"/>
            <a:ext cx="2486025" cy="628650"/>
          </a:xfrm>
          <a:prstGeom prst="rect">
            <a:avLst/>
          </a:prstGeom>
          <a:noFill/>
          <a:ln>
            <a:noFill/>
          </a:ln>
        </p:spPr>
      </p:pic>
      <p:sp>
        <p:nvSpPr>
          <p:cNvPr id="146" name="Google Shape;146;p22"/>
          <p:cNvSpPr txBox="1"/>
          <p:nvPr/>
        </p:nvSpPr>
        <p:spPr>
          <a:xfrm>
            <a:off x="152400" y="3928250"/>
            <a:ext cx="59334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chemeClr val="lt1"/>
                </a:solidFill>
              </a:rPr>
              <a:t>Encircling localized anyons contributes an additional statistical phase, shifting the interference pattern. </a:t>
            </a:r>
            <a:endParaRPr b="1" sz="1700">
              <a:solidFill>
                <a:schemeClr val="lt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50" name="Shape 150"/>
        <p:cNvGrpSpPr/>
        <p:nvPr/>
      </p:nvGrpSpPr>
      <p:grpSpPr>
        <a:xfrm>
          <a:off x="0" y="0"/>
          <a:ext cx="0" cy="0"/>
          <a:chOff x="0" y="0"/>
          <a:chExt cx="0" cy="0"/>
        </a:xfrm>
      </p:grpSpPr>
      <p:sp>
        <p:nvSpPr>
          <p:cNvPr id="151" name="Google Shape;151;p23"/>
          <p:cNvSpPr txBox="1"/>
          <p:nvPr>
            <p:ph type="title"/>
          </p:nvPr>
        </p:nvSpPr>
        <p:spPr>
          <a:xfrm>
            <a:off x="311700" y="2285400"/>
            <a:ext cx="8520600" cy="728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solidFill>
                  <a:schemeClr val="lt1"/>
                </a:solidFill>
              </a:rPr>
              <a:t>Can we do the same in a mesoscopic system? </a:t>
            </a:r>
            <a:endParaRPr>
              <a:solidFill>
                <a:schemeClr val="lt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5" name="Shape 155"/>
        <p:cNvGrpSpPr/>
        <p:nvPr/>
      </p:nvGrpSpPr>
      <p:grpSpPr>
        <a:xfrm>
          <a:off x="0" y="0"/>
          <a:ext cx="0" cy="0"/>
          <a:chOff x="0" y="0"/>
          <a:chExt cx="0" cy="0"/>
        </a:xfrm>
      </p:grpSpPr>
      <p:pic>
        <p:nvPicPr>
          <p:cNvPr id="156" name="Google Shape;156;p24"/>
          <p:cNvPicPr preferRelativeResize="0"/>
          <p:nvPr/>
        </p:nvPicPr>
        <p:blipFill>
          <a:blip r:embed="rId4">
            <a:alphaModFix/>
          </a:blip>
          <a:stretch>
            <a:fillRect/>
          </a:stretch>
        </p:blipFill>
        <p:spPr>
          <a:xfrm>
            <a:off x="6957900" y="3099100"/>
            <a:ext cx="2186100" cy="2044400"/>
          </a:xfrm>
          <a:prstGeom prst="rect">
            <a:avLst/>
          </a:prstGeom>
          <a:noFill/>
          <a:ln>
            <a:noFill/>
          </a:ln>
        </p:spPr>
      </p:pic>
      <p:sp>
        <p:nvSpPr>
          <p:cNvPr id="157" name="Google Shape;157;p24"/>
          <p:cNvSpPr txBox="1"/>
          <p:nvPr/>
        </p:nvSpPr>
        <p:spPr>
          <a:xfrm>
            <a:off x="0" y="0"/>
            <a:ext cx="8154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800">
                <a:solidFill>
                  <a:schemeClr val="lt1"/>
                </a:solidFill>
              </a:rPr>
              <a:t>Quantum Hall Fabry–Pérot Interferometer </a:t>
            </a:r>
            <a:endParaRPr sz="2800">
              <a:solidFill>
                <a:schemeClr val="lt1"/>
              </a:solidFill>
            </a:endParaRPr>
          </a:p>
        </p:txBody>
      </p:sp>
      <p:sp>
        <p:nvSpPr>
          <p:cNvPr id="158" name="Google Shape;158;p24"/>
          <p:cNvSpPr txBox="1"/>
          <p:nvPr/>
        </p:nvSpPr>
        <p:spPr>
          <a:xfrm>
            <a:off x="-55925" y="4851000"/>
            <a:ext cx="17586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700">
                <a:solidFill>
                  <a:schemeClr val="dk1"/>
                </a:solidFill>
              </a:rPr>
              <a:t>Nat. Nanotechnol.</a:t>
            </a:r>
            <a:r>
              <a:rPr lang="en" sz="700">
                <a:solidFill>
                  <a:schemeClr val="dk1"/>
                </a:solidFill>
              </a:rPr>
              <a:t> </a:t>
            </a:r>
            <a:r>
              <a:rPr b="1" lang="en" sz="700">
                <a:solidFill>
                  <a:schemeClr val="dk1"/>
                </a:solidFill>
              </a:rPr>
              <a:t>16</a:t>
            </a:r>
            <a:r>
              <a:rPr lang="en" sz="700">
                <a:solidFill>
                  <a:schemeClr val="dk1"/>
                </a:solidFill>
              </a:rPr>
              <a:t>, 563–569 (2021) </a:t>
            </a:r>
            <a:endParaRPr sz="7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5"/>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Fractional Quantum Hall Fabry–Pérot Interferometer </a:t>
            </a:r>
            <a:endParaRPr/>
          </a:p>
        </p:txBody>
      </p:sp>
      <p:pic>
        <p:nvPicPr>
          <p:cNvPr id="164" name="Google Shape;164;p25"/>
          <p:cNvPicPr preferRelativeResize="0"/>
          <p:nvPr/>
        </p:nvPicPr>
        <p:blipFill>
          <a:blip r:embed="rId3">
            <a:alphaModFix/>
          </a:blip>
          <a:stretch>
            <a:fillRect/>
          </a:stretch>
        </p:blipFill>
        <p:spPr>
          <a:xfrm>
            <a:off x="152400" y="725100"/>
            <a:ext cx="4934583" cy="2582525"/>
          </a:xfrm>
          <a:prstGeom prst="rect">
            <a:avLst/>
          </a:prstGeom>
          <a:noFill/>
          <a:ln>
            <a:noFill/>
          </a:ln>
        </p:spPr>
      </p:pic>
      <p:pic>
        <p:nvPicPr>
          <p:cNvPr id="165" name="Google Shape;165;p25"/>
          <p:cNvPicPr preferRelativeResize="0"/>
          <p:nvPr/>
        </p:nvPicPr>
        <p:blipFill>
          <a:blip r:embed="rId4">
            <a:alphaModFix/>
          </a:blip>
          <a:stretch>
            <a:fillRect/>
          </a:stretch>
        </p:blipFill>
        <p:spPr>
          <a:xfrm>
            <a:off x="4906926" y="2723075"/>
            <a:ext cx="4054399" cy="2260375"/>
          </a:xfrm>
          <a:prstGeom prst="rect">
            <a:avLst/>
          </a:prstGeom>
          <a:noFill/>
          <a:ln>
            <a:noFill/>
          </a:ln>
        </p:spPr>
      </p:pic>
      <p:sp>
        <p:nvSpPr>
          <p:cNvPr id="166" name="Google Shape;166;p25"/>
          <p:cNvSpPr txBox="1"/>
          <p:nvPr/>
        </p:nvSpPr>
        <p:spPr>
          <a:xfrm>
            <a:off x="5311225" y="725100"/>
            <a:ext cx="3000000" cy="17085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Char char="●"/>
            </a:pPr>
            <a:r>
              <a:rPr b="1" lang="en" sz="1100">
                <a:solidFill>
                  <a:schemeClr val="dk1"/>
                </a:solidFill>
              </a:rPr>
              <a:t>Fractional quasiparticles propagate along the quantum Hall edge</a:t>
            </a:r>
            <a:endParaRPr b="1"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The two constrictions define paths that enclose quasiparticles inside the cavity</a:t>
            </a:r>
            <a:endParaRPr b="1"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Interference becomes sensitive to the number and type of enclosed quasiparticles</a:t>
            </a:r>
            <a:endParaRPr b="1" sz="1100">
              <a:solidFill>
                <a:schemeClr val="dk1"/>
              </a:solidFill>
            </a:endParaRPr>
          </a:p>
        </p:txBody>
      </p:sp>
      <p:sp>
        <p:nvSpPr>
          <p:cNvPr id="167" name="Google Shape;167;p25"/>
          <p:cNvSpPr txBox="1"/>
          <p:nvPr/>
        </p:nvSpPr>
        <p:spPr>
          <a:xfrm>
            <a:off x="152400" y="3545475"/>
            <a:ext cx="4200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t>What happens when an anyon encircles another anyon? </a:t>
            </a:r>
            <a:endParaRPr b="1" sz="1900"/>
          </a:p>
        </p:txBody>
      </p:sp>
      <p:sp>
        <p:nvSpPr>
          <p:cNvPr id="168" name="Google Shape;168;p25"/>
          <p:cNvSpPr txBox="1"/>
          <p:nvPr/>
        </p:nvSpPr>
        <p:spPr>
          <a:xfrm>
            <a:off x="0" y="4851000"/>
            <a:ext cx="30000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700">
                <a:solidFill>
                  <a:srgbClr val="434343"/>
                </a:solidFill>
              </a:rPr>
              <a:t>Nat. Nanotechnol.</a:t>
            </a:r>
            <a:r>
              <a:rPr lang="en" sz="700">
                <a:solidFill>
                  <a:srgbClr val="434343"/>
                </a:solidFill>
              </a:rPr>
              <a:t> </a:t>
            </a:r>
            <a:r>
              <a:rPr b="1" lang="en" sz="700">
                <a:solidFill>
                  <a:srgbClr val="434343"/>
                </a:solidFill>
              </a:rPr>
              <a:t>19</a:t>
            </a:r>
            <a:r>
              <a:rPr lang="en" sz="700">
                <a:solidFill>
                  <a:srgbClr val="434343"/>
                </a:solidFill>
              </a:rPr>
              <a:t>, 1619–1626 (2024) </a:t>
            </a:r>
            <a:endParaRPr sz="700">
              <a:solidFill>
                <a:srgbClr val="434343"/>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6"/>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Fractional Quantum Hall Fabry–Pérot Interferometer </a:t>
            </a:r>
            <a:endParaRPr/>
          </a:p>
        </p:txBody>
      </p:sp>
      <p:pic>
        <p:nvPicPr>
          <p:cNvPr id="174" name="Google Shape;174;p26"/>
          <p:cNvPicPr preferRelativeResize="0"/>
          <p:nvPr/>
        </p:nvPicPr>
        <p:blipFill>
          <a:blip r:embed="rId3">
            <a:alphaModFix/>
          </a:blip>
          <a:stretch>
            <a:fillRect/>
          </a:stretch>
        </p:blipFill>
        <p:spPr>
          <a:xfrm>
            <a:off x="2656625" y="3547425"/>
            <a:ext cx="6489575" cy="1107225"/>
          </a:xfrm>
          <a:prstGeom prst="rect">
            <a:avLst/>
          </a:prstGeom>
          <a:noFill/>
          <a:ln>
            <a:noFill/>
          </a:ln>
        </p:spPr>
      </p:pic>
      <p:pic>
        <p:nvPicPr>
          <p:cNvPr id="175" name="Google Shape;175;p26"/>
          <p:cNvPicPr preferRelativeResize="0"/>
          <p:nvPr/>
        </p:nvPicPr>
        <p:blipFill>
          <a:blip r:embed="rId4">
            <a:alphaModFix/>
          </a:blip>
          <a:stretch>
            <a:fillRect/>
          </a:stretch>
        </p:blipFill>
        <p:spPr>
          <a:xfrm>
            <a:off x="2440100" y="725100"/>
            <a:ext cx="6703899" cy="2482682"/>
          </a:xfrm>
          <a:prstGeom prst="rect">
            <a:avLst/>
          </a:prstGeom>
          <a:noFill/>
          <a:ln>
            <a:noFill/>
          </a:ln>
        </p:spPr>
      </p:pic>
      <p:sp>
        <p:nvSpPr>
          <p:cNvPr id="176" name="Google Shape;176;p26"/>
          <p:cNvSpPr txBox="1"/>
          <p:nvPr/>
        </p:nvSpPr>
        <p:spPr>
          <a:xfrm>
            <a:off x="6144000" y="4789500"/>
            <a:ext cx="30000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i="1" lang="en" sz="700">
                <a:solidFill>
                  <a:srgbClr val="434343"/>
                </a:solidFill>
              </a:rPr>
              <a:t>Nat. Nanotechnol.</a:t>
            </a:r>
            <a:r>
              <a:rPr lang="en" sz="700">
                <a:solidFill>
                  <a:srgbClr val="434343"/>
                </a:solidFill>
              </a:rPr>
              <a:t> </a:t>
            </a:r>
            <a:r>
              <a:rPr b="1" lang="en" sz="700">
                <a:solidFill>
                  <a:srgbClr val="434343"/>
                </a:solidFill>
              </a:rPr>
              <a:t>19</a:t>
            </a:r>
            <a:r>
              <a:rPr lang="en" sz="700">
                <a:solidFill>
                  <a:srgbClr val="434343"/>
                </a:solidFill>
              </a:rPr>
              <a:t>, 1619–1626 (2024) </a:t>
            </a:r>
            <a:endParaRPr sz="700">
              <a:solidFill>
                <a:srgbClr val="434343"/>
              </a:solidFill>
            </a:endParaRPr>
          </a:p>
        </p:txBody>
      </p:sp>
      <p:pic>
        <p:nvPicPr>
          <p:cNvPr id="177" name="Google Shape;177;p26" title="anyonfp-ezgif.com-video-to-gif-converter.gif"/>
          <p:cNvPicPr preferRelativeResize="0"/>
          <p:nvPr/>
        </p:nvPicPr>
        <p:blipFill>
          <a:blip r:embed="rId5">
            <a:alphaModFix/>
          </a:blip>
          <a:stretch>
            <a:fillRect/>
          </a:stretch>
        </p:blipFill>
        <p:spPr>
          <a:xfrm>
            <a:off x="152400" y="725100"/>
            <a:ext cx="2287700" cy="1286830"/>
          </a:xfrm>
          <a:prstGeom prst="rect">
            <a:avLst/>
          </a:prstGeom>
          <a:noFill/>
          <a:ln>
            <a:noFill/>
          </a:ln>
        </p:spPr>
      </p:pic>
      <p:pic>
        <p:nvPicPr>
          <p:cNvPr id="178" name="Google Shape;178;p26" title="ChatGPT Image Aug 12, 2026, 07_31_41 AM.png"/>
          <p:cNvPicPr preferRelativeResize="0"/>
          <p:nvPr/>
        </p:nvPicPr>
        <p:blipFill>
          <a:blip r:embed="rId6">
            <a:alphaModFix/>
          </a:blip>
          <a:stretch>
            <a:fillRect/>
          </a:stretch>
        </p:blipFill>
        <p:spPr>
          <a:xfrm>
            <a:off x="152402" y="2571750"/>
            <a:ext cx="2287699" cy="152511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7"/>
          <p:cNvSpPr txBox="1"/>
          <p:nvPr/>
        </p:nvSpPr>
        <p:spPr>
          <a:xfrm>
            <a:off x="0" y="0"/>
            <a:ext cx="2681400" cy="66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500">
                <a:solidFill>
                  <a:schemeClr val="dk1"/>
                </a:solidFill>
              </a:rPr>
              <a:t>What did I do?</a:t>
            </a:r>
            <a:endParaRPr sz="2500">
              <a:solidFill>
                <a:schemeClr val="dk1"/>
              </a:solidFill>
            </a:endParaRPr>
          </a:p>
        </p:txBody>
      </p:sp>
      <p:pic>
        <p:nvPicPr>
          <p:cNvPr id="184" name="Google Shape;184;p27" title="PXL_20260722_120736629.jpg"/>
          <p:cNvPicPr preferRelativeResize="0"/>
          <p:nvPr/>
        </p:nvPicPr>
        <p:blipFill>
          <a:blip r:embed="rId3">
            <a:alphaModFix/>
          </a:blip>
          <a:stretch>
            <a:fillRect/>
          </a:stretch>
        </p:blipFill>
        <p:spPr>
          <a:xfrm>
            <a:off x="0" y="846750"/>
            <a:ext cx="3586749" cy="2700574"/>
          </a:xfrm>
          <a:prstGeom prst="rect">
            <a:avLst/>
          </a:prstGeom>
          <a:noFill/>
          <a:ln>
            <a:noFill/>
          </a:ln>
        </p:spPr>
      </p:pic>
      <p:sp>
        <p:nvSpPr>
          <p:cNvPr id="185" name="Google Shape;185;p27"/>
          <p:cNvSpPr txBox="1"/>
          <p:nvPr/>
        </p:nvSpPr>
        <p:spPr>
          <a:xfrm>
            <a:off x="4748300" y="1044550"/>
            <a:ext cx="3954300" cy="34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Beat my PI at ping-pong (important)</a:t>
            </a:r>
            <a:endParaRPr sz="1800">
              <a:solidFill>
                <a:schemeClr val="dk2"/>
              </a:solidFill>
            </a:endParaRPr>
          </a:p>
        </p:txBody>
      </p:sp>
      <p:pic>
        <p:nvPicPr>
          <p:cNvPr id="186" name="Google Shape;186;p27" title="PXL_20260723_124417434.jpg"/>
          <p:cNvPicPr preferRelativeResize="0"/>
          <p:nvPr/>
        </p:nvPicPr>
        <p:blipFill>
          <a:blip r:embed="rId4">
            <a:alphaModFix/>
          </a:blip>
          <a:stretch>
            <a:fillRect/>
          </a:stretch>
        </p:blipFill>
        <p:spPr>
          <a:xfrm>
            <a:off x="4950800" y="2166187"/>
            <a:ext cx="3954299" cy="2977313"/>
          </a:xfrm>
          <a:prstGeom prst="rect">
            <a:avLst/>
          </a:prstGeom>
          <a:noFill/>
          <a:ln>
            <a:noFill/>
          </a:ln>
        </p:spPr>
      </p:pic>
      <p:sp>
        <p:nvSpPr>
          <p:cNvPr id="187" name="Google Shape;187;p27"/>
          <p:cNvSpPr txBox="1"/>
          <p:nvPr/>
        </p:nvSpPr>
        <p:spPr>
          <a:xfrm>
            <a:off x="299850" y="4047250"/>
            <a:ext cx="4189200" cy="40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Won the QMT ping-pong tournament!</a:t>
            </a:r>
            <a:endParaRPr sz="1800">
              <a:solidFill>
                <a:schemeClr val="dk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8"/>
          <p:cNvSpPr txBox="1"/>
          <p:nvPr/>
        </p:nvSpPr>
        <p:spPr>
          <a:xfrm>
            <a:off x="0" y="0"/>
            <a:ext cx="2681400" cy="66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500">
                <a:solidFill>
                  <a:schemeClr val="dk1"/>
                </a:solidFill>
              </a:rPr>
              <a:t>Exfoliation</a:t>
            </a:r>
            <a:endParaRPr sz="2500">
              <a:solidFill>
                <a:schemeClr val="dk1"/>
              </a:solidFill>
            </a:endParaRPr>
          </a:p>
        </p:txBody>
      </p:sp>
      <p:pic>
        <p:nvPicPr>
          <p:cNvPr id="193" name="Google Shape;193;p28"/>
          <p:cNvPicPr preferRelativeResize="0"/>
          <p:nvPr/>
        </p:nvPicPr>
        <p:blipFill>
          <a:blip r:embed="rId3">
            <a:alphaModFix/>
          </a:blip>
          <a:stretch>
            <a:fillRect/>
          </a:stretch>
        </p:blipFill>
        <p:spPr>
          <a:xfrm>
            <a:off x="0" y="477125"/>
            <a:ext cx="8695964" cy="466637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9"/>
          <p:cNvSpPr txBox="1"/>
          <p:nvPr/>
        </p:nvSpPr>
        <p:spPr>
          <a:xfrm>
            <a:off x="0" y="0"/>
            <a:ext cx="3793500" cy="66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500">
                <a:solidFill>
                  <a:schemeClr val="dk1"/>
                </a:solidFill>
              </a:rPr>
              <a:t>Stacking </a:t>
            </a:r>
            <a:r>
              <a:rPr lang="en" sz="1300">
                <a:solidFill>
                  <a:schemeClr val="dk1"/>
                </a:solidFill>
              </a:rPr>
              <a:t>(with Himanshu and Avirup)</a:t>
            </a:r>
            <a:endParaRPr sz="1300">
              <a:solidFill>
                <a:schemeClr val="dk1"/>
              </a:solidFill>
            </a:endParaRPr>
          </a:p>
        </p:txBody>
      </p:sp>
      <p:pic>
        <p:nvPicPr>
          <p:cNvPr id="199" name="Google Shape;199;p29"/>
          <p:cNvPicPr preferRelativeResize="0"/>
          <p:nvPr/>
        </p:nvPicPr>
        <p:blipFill>
          <a:blip r:embed="rId3">
            <a:alphaModFix/>
          </a:blip>
          <a:stretch>
            <a:fillRect/>
          </a:stretch>
        </p:blipFill>
        <p:spPr>
          <a:xfrm>
            <a:off x="89450" y="651775"/>
            <a:ext cx="4176550" cy="3839950"/>
          </a:xfrm>
          <a:prstGeom prst="rect">
            <a:avLst/>
          </a:prstGeom>
          <a:noFill/>
          <a:ln>
            <a:noFill/>
          </a:ln>
        </p:spPr>
      </p:pic>
      <p:pic>
        <p:nvPicPr>
          <p:cNvPr id="200" name="Google Shape;200;p29"/>
          <p:cNvPicPr preferRelativeResize="0"/>
          <p:nvPr/>
        </p:nvPicPr>
        <p:blipFill>
          <a:blip r:embed="rId4">
            <a:alphaModFix/>
          </a:blip>
          <a:stretch>
            <a:fillRect/>
          </a:stretch>
        </p:blipFill>
        <p:spPr>
          <a:xfrm>
            <a:off x="4266000" y="107675"/>
            <a:ext cx="4877999" cy="2531612"/>
          </a:xfrm>
          <a:prstGeom prst="rect">
            <a:avLst/>
          </a:prstGeom>
          <a:noFill/>
          <a:ln>
            <a:noFill/>
          </a:ln>
        </p:spPr>
      </p:pic>
      <p:pic>
        <p:nvPicPr>
          <p:cNvPr id="201" name="Google Shape;201;p29"/>
          <p:cNvPicPr preferRelativeResize="0"/>
          <p:nvPr/>
        </p:nvPicPr>
        <p:blipFill>
          <a:blip r:embed="rId5">
            <a:alphaModFix/>
          </a:blip>
          <a:stretch>
            <a:fillRect/>
          </a:stretch>
        </p:blipFill>
        <p:spPr>
          <a:xfrm>
            <a:off x="4266000" y="2670950"/>
            <a:ext cx="4878000" cy="194212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0"/>
          <p:cNvSpPr txBox="1"/>
          <p:nvPr/>
        </p:nvSpPr>
        <p:spPr>
          <a:xfrm>
            <a:off x="0" y="0"/>
            <a:ext cx="3357300" cy="81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500">
                <a:solidFill>
                  <a:schemeClr val="dk1"/>
                </a:solidFill>
              </a:rPr>
              <a:t>Other Lab Activities </a:t>
            </a:r>
            <a:r>
              <a:rPr lang="en" sz="1300">
                <a:solidFill>
                  <a:schemeClr val="dk1"/>
                </a:solidFill>
              </a:rPr>
              <a:t>(with Ravi and Alon)</a:t>
            </a:r>
            <a:endParaRPr sz="1300">
              <a:solidFill>
                <a:schemeClr val="dk1"/>
              </a:solidFill>
            </a:endParaRPr>
          </a:p>
        </p:txBody>
      </p:sp>
      <p:pic>
        <p:nvPicPr>
          <p:cNvPr id="207" name="Google Shape;207;p30"/>
          <p:cNvPicPr preferRelativeResize="0"/>
          <p:nvPr/>
        </p:nvPicPr>
        <p:blipFill>
          <a:blip r:embed="rId3">
            <a:alphaModFix/>
          </a:blip>
          <a:stretch>
            <a:fillRect/>
          </a:stretch>
        </p:blipFill>
        <p:spPr>
          <a:xfrm>
            <a:off x="152400" y="819600"/>
            <a:ext cx="3140846" cy="4171500"/>
          </a:xfrm>
          <a:prstGeom prst="rect">
            <a:avLst/>
          </a:prstGeom>
          <a:noFill/>
          <a:ln>
            <a:noFill/>
          </a:ln>
        </p:spPr>
      </p:pic>
      <p:pic>
        <p:nvPicPr>
          <p:cNvPr id="208" name="Google Shape;208;p30" title="images_page-0001.jpg"/>
          <p:cNvPicPr preferRelativeResize="0"/>
          <p:nvPr/>
        </p:nvPicPr>
        <p:blipFill>
          <a:blip r:embed="rId4">
            <a:alphaModFix/>
          </a:blip>
          <a:stretch>
            <a:fillRect/>
          </a:stretch>
        </p:blipFill>
        <p:spPr>
          <a:xfrm>
            <a:off x="4246176" y="585150"/>
            <a:ext cx="3931551" cy="2039649"/>
          </a:xfrm>
          <a:prstGeom prst="rect">
            <a:avLst/>
          </a:prstGeom>
          <a:noFill/>
          <a:ln>
            <a:noFill/>
          </a:ln>
        </p:spPr>
      </p:pic>
      <p:sp>
        <p:nvSpPr>
          <p:cNvPr id="209" name="Google Shape;209;p30"/>
          <p:cNvSpPr txBox="1"/>
          <p:nvPr/>
        </p:nvSpPr>
        <p:spPr>
          <a:xfrm>
            <a:off x="3910138" y="82050"/>
            <a:ext cx="4416600" cy="50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rPr>
              <a:t>Thermal Conductance and Shot Noise</a:t>
            </a:r>
            <a:endParaRPr sz="1800">
              <a:solidFill>
                <a:schemeClr val="dk2"/>
              </a:solidFill>
            </a:endParaRPr>
          </a:p>
        </p:txBody>
      </p:sp>
      <p:pic>
        <p:nvPicPr>
          <p:cNvPr id="210" name="Google Shape;210;p30"/>
          <p:cNvPicPr preferRelativeResize="0"/>
          <p:nvPr/>
        </p:nvPicPr>
        <p:blipFill>
          <a:blip r:embed="rId5">
            <a:alphaModFix/>
          </a:blip>
          <a:stretch>
            <a:fillRect/>
          </a:stretch>
        </p:blipFill>
        <p:spPr>
          <a:xfrm>
            <a:off x="4974375" y="2894175"/>
            <a:ext cx="2475150" cy="20969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1"/>
          <p:cNvSpPr txBox="1"/>
          <p:nvPr/>
        </p:nvSpPr>
        <p:spPr>
          <a:xfrm>
            <a:off x="0" y="0"/>
            <a:ext cx="2681400" cy="66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500">
                <a:solidFill>
                  <a:schemeClr val="dk1"/>
                </a:solidFill>
              </a:rPr>
              <a:t>Conclusion</a:t>
            </a:r>
            <a:endParaRPr sz="2500">
              <a:solidFill>
                <a:schemeClr val="dk1"/>
              </a:solidFill>
            </a:endParaRPr>
          </a:p>
        </p:txBody>
      </p:sp>
      <p:sp>
        <p:nvSpPr>
          <p:cNvPr id="216" name="Google Shape;216;p31"/>
          <p:cNvSpPr txBox="1"/>
          <p:nvPr/>
        </p:nvSpPr>
        <p:spPr>
          <a:xfrm>
            <a:off x="0" y="667200"/>
            <a:ext cx="9144000" cy="32016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b="1" lang="en" sz="1800">
                <a:solidFill>
                  <a:schemeClr val="dk1"/>
                </a:solidFill>
              </a:rPr>
              <a:t>Two-dimensional systems allow anyonic quasiparticles</a:t>
            </a:r>
            <a:r>
              <a:rPr lang="en" sz="1800">
                <a:solidFill>
                  <a:schemeClr val="dk1"/>
                </a:solidFill>
              </a:rPr>
              <a:t> </a:t>
            </a:r>
            <a:r>
              <a:rPr b="1" lang="en" sz="1800">
                <a:solidFill>
                  <a:schemeClr val="dk1"/>
                </a:solidFill>
              </a:rPr>
              <a:t>with statistics beyond the familiar boson and fermion picture.</a:t>
            </a:r>
            <a:endParaRPr b="1" sz="1800">
              <a:solidFill>
                <a:schemeClr val="dk1"/>
              </a:solidFill>
            </a:endParaRPr>
          </a:p>
          <a:p>
            <a:pPr indent="0" lvl="0" marL="0" rtl="0" algn="l">
              <a:spcBef>
                <a:spcPts val="0"/>
              </a:spcBef>
              <a:spcAft>
                <a:spcPts val="0"/>
              </a:spcAft>
              <a:buNone/>
            </a:pPr>
            <a:r>
              <a:t/>
            </a:r>
            <a:endParaRPr b="1" sz="1600">
              <a:solidFill>
                <a:schemeClr val="dk1"/>
              </a:solidFill>
            </a:endParaRPr>
          </a:p>
          <a:p>
            <a:pPr indent="0" lvl="0" marL="0" rtl="0" algn="l">
              <a:spcBef>
                <a:spcPts val="0"/>
              </a:spcBef>
              <a:spcAft>
                <a:spcPts val="0"/>
              </a:spcAft>
              <a:buNone/>
            </a:pPr>
            <a:r>
              <a:t/>
            </a:r>
            <a:endParaRPr b="1" sz="1600">
              <a:solidFill>
                <a:schemeClr val="dk1"/>
              </a:solidFill>
            </a:endParaRPr>
          </a:p>
          <a:p>
            <a:pPr indent="0" lvl="0" marL="0" rtl="0" algn="l">
              <a:spcBef>
                <a:spcPts val="0"/>
              </a:spcBef>
              <a:spcAft>
                <a:spcPts val="0"/>
              </a:spcAft>
              <a:buNone/>
            </a:pPr>
            <a:r>
              <a:t/>
            </a:r>
            <a:endParaRPr sz="1100">
              <a:solidFill>
                <a:schemeClr val="dk1"/>
              </a:solidFill>
            </a:endParaRPr>
          </a:p>
          <a:p>
            <a:pPr indent="-342900" lvl="0" marL="457200" rtl="0" algn="l">
              <a:spcBef>
                <a:spcPts val="0"/>
              </a:spcBef>
              <a:spcAft>
                <a:spcPts val="0"/>
              </a:spcAft>
              <a:buClr>
                <a:schemeClr val="dk1"/>
              </a:buClr>
              <a:buSzPts val="1800"/>
              <a:buChar char="●"/>
            </a:pPr>
            <a:r>
              <a:rPr b="1" lang="en" sz="1800">
                <a:solidFill>
                  <a:schemeClr val="dk1"/>
                </a:solidFill>
              </a:rPr>
              <a:t>Fractional quantum Hall edge states provide a platform to create, transport, and manipulate these quasiparticles.</a:t>
            </a:r>
            <a:endParaRPr b="1" sz="1800">
              <a:solidFill>
                <a:schemeClr val="dk1"/>
              </a:solidFill>
            </a:endParaRPr>
          </a:p>
          <a:p>
            <a:pPr indent="0" lvl="0" marL="0" rtl="0" algn="l">
              <a:spcBef>
                <a:spcPts val="0"/>
              </a:spcBef>
              <a:spcAft>
                <a:spcPts val="0"/>
              </a:spcAft>
              <a:buNone/>
            </a:pPr>
            <a:r>
              <a:t/>
            </a:r>
            <a:endParaRPr b="1" sz="1600">
              <a:solidFill>
                <a:schemeClr val="dk1"/>
              </a:solidFill>
            </a:endParaRPr>
          </a:p>
          <a:p>
            <a:pPr indent="0" lvl="0" marL="0" rtl="0" algn="l">
              <a:spcBef>
                <a:spcPts val="0"/>
              </a:spcBef>
              <a:spcAft>
                <a:spcPts val="0"/>
              </a:spcAft>
              <a:buNone/>
            </a:pPr>
            <a:r>
              <a:t/>
            </a:r>
            <a:endParaRPr b="1" sz="1600">
              <a:solidFill>
                <a:schemeClr val="dk1"/>
              </a:solidFill>
            </a:endParaRPr>
          </a:p>
          <a:p>
            <a:pPr indent="0" lvl="0" marL="0" rtl="0" algn="l">
              <a:spcBef>
                <a:spcPts val="0"/>
              </a:spcBef>
              <a:spcAft>
                <a:spcPts val="0"/>
              </a:spcAft>
              <a:buNone/>
            </a:pPr>
            <a:r>
              <a:t/>
            </a:r>
            <a:endParaRPr b="1" sz="1300">
              <a:solidFill>
                <a:schemeClr val="dk1"/>
              </a:solidFill>
            </a:endParaRPr>
          </a:p>
          <a:p>
            <a:pPr indent="-342900" lvl="0" marL="457200" rtl="0" algn="l">
              <a:spcBef>
                <a:spcPts val="0"/>
              </a:spcBef>
              <a:spcAft>
                <a:spcPts val="0"/>
              </a:spcAft>
              <a:buClr>
                <a:schemeClr val="dk1"/>
              </a:buClr>
              <a:buSzPts val="1800"/>
              <a:buChar char="●"/>
            </a:pPr>
            <a:r>
              <a:rPr b="1" lang="en" sz="1800">
                <a:solidFill>
                  <a:schemeClr val="dk1"/>
                </a:solidFill>
              </a:rPr>
              <a:t>Quantum Hall interferometry can be used to probe anyonic statistics and detect the phase acquired when quasiparticles braid around one another.</a:t>
            </a:r>
            <a:endParaRPr b="1" sz="18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0" name="Shape 220"/>
        <p:cNvGrpSpPr/>
        <p:nvPr/>
      </p:nvGrpSpPr>
      <p:grpSpPr>
        <a:xfrm>
          <a:off x="0" y="0"/>
          <a:ext cx="0" cy="0"/>
          <a:chOff x="0" y="0"/>
          <a:chExt cx="0" cy="0"/>
        </a:xfrm>
      </p:grpSpPr>
      <p:sp>
        <p:nvSpPr>
          <p:cNvPr id="221" name="Google Shape;221;p32"/>
          <p:cNvSpPr/>
          <p:nvPr/>
        </p:nvSpPr>
        <p:spPr>
          <a:xfrm>
            <a:off x="2130475" y="2269850"/>
            <a:ext cx="4883057" cy="603800"/>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solidFill>
                  <a:srgbClr val="FFFFFF">
                    <a:alpha val="40270"/>
                  </a:srgbClr>
                </a:solidFill>
                <a:latin typeface="Arial"/>
              </a:rPr>
              <a:t>THANK YOU!</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